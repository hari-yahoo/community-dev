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5" r:id="rId4"/>
    <p:sldId id="260" r:id="rId5"/>
    <p:sldId id="262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2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88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04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86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63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56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36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66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64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49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549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4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28D06-D480-4A1C-ACC1-2C844EBB1006}" type="datetimeFigureOut">
              <a:rPr lang="en-IN" smtClean="0"/>
              <a:t>04-07-2024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633D5-6D39-4B37-9086-FABCDFD05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9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chimatetool.com/" TargetMode="External"/><Relationship Id="rId2" Type="http://schemas.openxmlformats.org/officeDocument/2006/relationships/hyperlink" Target="https://sparxsystem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group.org/archimate-forum/archimate-overview" TargetMode="External"/><Relationship Id="rId5" Type="http://schemas.openxmlformats.org/officeDocument/2006/relationships/hyperlink" Target="https://bizzdesign.com/" TargetMode="External"/><Relationship Id="rId4" Type="http://schemas.openxmlformats.org/officeDocument/2006/relationships/hyperlink" Target="https://www.mega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548C-1819-4802-B072-74FCEBE29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in Software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76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6B75-1A49-FD69-3075-EDDE5A6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5"/>
            <a:ext cx="12192000" cy="662164"/>
          </a:xfrm>
        </p:spPr>
        <p:txBody>
          <a:bodyPr>
            <a:normAutofit/>
          </a:bodyPr>
          <a:lstStyle/>
          <a:p>
            <a:r>
              <a:rPr lang="en-US" sz="3200" dirty="0"/>
              <a:t>Requirement Analysis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8D1EE-A70F-F691-189E-C92EABF9FC25}"/>
              </a:ext>
            </a:extLst>
          </p:cNvPr>
          <p:cNvSpPr txBox="1"/>
          <p:nvPr/>
        </p:nvSpPr>
        <p:spPr>
          <a:xfrm>
            <a:off x="687128" y="880534"/>
            <a:ext cx="10817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Natural Language Processing (NLP) can be used to analyze and extract requirements from documentation, user stories, or interviews, making the requirement gathering process more efficient.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9146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2B9E86-E99A-0CC5-A850-72DAF78543EA}"/>
              </a:ext>
            </a:extLst>
          </p:cNvPr>
          <p:cNvSpPr/>
          <p:nvPr/>
        </p:nvSpPr>
        <p:spPr>
          <a:xfrm>
            <a:off x="6212539" y="1728092"/>
            <a:ext cx="5544000" cy="2160000"/>
          </a:xfrm>
          <a:prstGeom prst="roundRect">
            <a:avLst>
              <a:gd name="adj" fmla="val 434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 err="1"/>
              <a:t>Sparx</a:t>
            </a:r>
            <a:r>
              <a:rPr lang="en-US" sz="1400" b="1" dirty="0"/>
              <a:t> Systems Enterprise Architect </a:t>
            </a:r>
            <a:r>
              <a:rPr lang="en-US" sz="1400" dirty="0"/>
              <a:t>(</a:t>
            </a:r>
            <a:r>
              <a:rPr lang="en-US" sz="1200" dirty="0">
                <a:hlinkClick r:id="rId2"/>
              </a:rPr>
              <a:t>https://sparxsystems.com/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 err="1"/>
              <a:t>Sparx</a:t>
            </a:r>
            <a:r>
              <a:rPr lang="en-US" sz="1400" dirty="0"/>
              <a:t> Systems Enterprise Architect is a powerful modeling tool that supports various modeling languages, including </a:t>
            </a:r>
            <a:r>
              <a:rPr lang="en-US" sz="1400" dirty="0" err="1"/>
              <a:t>Archimate</a:t>
            </a:r>
            <a:r>
              <a:rPr lang="en-US" sz="1400" dirty="0"/>
              <a:t>. It includes AI capabilities for model generation and optimization.</a:t>
            </a:r>
          </a:p>
          <a:p>
            <a:r>
              <a:rPr lang="en-US" sz="1400" b="1" dirty="0"/>
              <a:t>Key Features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Model validation and optimization using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Integration with AI and machine learning frameworks.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Support for automated documentation and reporting.</a:t>
            </a:r>
            <a:endParaRPr lang="en-IN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41FE34-8BCF-50D0-7B8A-6150AD9CC758}"/>
              </a:ext>
            </a:extLst>
          </p:cNvPr>
          <p:cNvSpPr/>
          <p:nvPr/>
        </p:nvSpPr>
        <p:spPr>
          <a:xfrm>
            <a:off x="533708" y="4056509"/>
            <a:ext cx="5544000" cy="2160000"/>
          </a:xfrm>
          <a:prstGeom prst="roundRect">
            <a:avLst>
              <a:gd name="adj" fmla="val 434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/>
              <a:t>Archi  (</a:t>
            </a:r>
            <a:r>
              <a:rPr lang="en-US" sz="1200" dirty="0">
                <a:hlinkClick r:id="rId3"/>
              </a:rPr>
              <a:t>https://www.archimatetool.com/</a:t>
            </a:r>
            <a:r>
              <a:rPr lang="en-US" sz="1400" b="1" dirty="0"/>
              <a:t>) 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Archi is an open-source </a:t>
            </a:r>
            <a:r>
              <a:rPr lang="en-US" sz="1400" dirty="0" err="1"/>
              <a:t>Archimate</a:t>
            </a:r>
            <a:r>
              <a:rPr lang="en-US" sz="1400" dirty="0"/>
              <a:t> modeling tool that can be enhanced with AI capabilities through plugins and integrations. It's a flexible tool for generating and managing </a:t>
            </a:r>
            <a:r>
              <a:rPr lang="en-US" sz="1400" dirty="0" err="1"/>
              <a:t>Archimate</a:t>
            </a:r>
            <a:r>
              <a:rPr lang="en-US" sz="1400" dirty="0"/>
              <a:t> models.</a:t>
            </a:r>
          </a:p>
          <a:p>
            <a:r>
              <a:rPr lang="en-US" sz="1400" b="1" dirty="0"/>
              <a:t>Key Features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Open-source and highly customizable.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Integration with AI and machine learning tools for model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Community-supported plugins for additional features.</a:t>
            </a:r>
            <a:endParaRPr lang="en-IN" sz="1400" dirty="0"/>
          </a:p>
          <a:p>
            <a:pPr algn="ctr"/>
            <a:endParaRPr lang="en-IN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FE2F1B-FB95-8238-D987-EE6EF84AF41E}"/>
              </a:ext>
            </a:extLst>
          </p:cNvPr>
          <p:cNvSpPr/>
          <p:nvPr/>
        </p:nvSpPr>
        <p:spPr>
          <a:xfrm>
            <a:off x="6208058" y="4056509"/>
            <a:ext cx="5544000" cy="2160000"/>
          </a:xfrm>
          <a:prstGeom prst="roundRect">
            <a:avLst>
              <a:gd name="adj" fmla="val 434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/>
              <a:t>Mega International </a:t>
            </a:r>
            <a:r>
              <a:rPr lang="en-US" sz="1400" dirty="0"/>
              <a:t>(</a:t>
            </a:r>
            <a:r>
              <a:rPr lang="en-US" sz="1200" dirty="0">
                <a:hlinkClick r:id="rId4"/>
              </a:rPr>
              <a:t>https://www.mega.com/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Mega International offers tools for enterprise architecture, including AI-driven features for automated modeling and analysis. Their tools are designed to support decision-making and strategic planning.</a:t>
            </a:r>
          </a:p>
          <a:p>
            <a:r>
              <a:rPr lang="en-US" sz="1400" b="1" dirty="0"/>
              <a:t>Key Features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AI-driven model generation and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Comprehensive analysis and reporting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Integration with other enterprise tools and data sources.</a:t>
            </a:r>
            <a:endParaRPr lang="en-IN" sz="1400" dirty="0"/>
          </a:p>
          <a:p>
            <a:pPr algn="ctr"/>
            <a:endParaRPr lang="en-IN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C759D8-BE23-9E29-0F14-CEB42D2D938E}"/>
              </a:ext>
            </a:extLst>
          </p:cNvPr>
          <p:cNvSpPr/>
          <p:nvPr/>
        </p:nvSpPr>
        <p:spPr>
          <a:xfrm>
            <a:off x="533863" y="1728092"/>
            <a:ext cx="5544000" cy="2160000"/>
          </a:xfrm>
          <a:prstGeom prst="roundRect">
            <a:avLst>
              <a:gd name="adj" fmla="val 434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 err="1"/>
              <a:t>BizzDesign</a:t>
            </a:r>
            <a:r>
              <a:rPr lang="en-US" sz="1400" b="1" dirty="0"/>
              <a:t> Enterprise Studio </a:t>
            </a:r>
            <a:r>
              <a:rPr lang="en-US" sz="1400" dirty="0"/>
              <a:t>(</a:t>
            </a:r>
            <a:r>
              <a:rPr lang="en-US" sz="1200" dirty="0">
                <a:hlinkClick r:id="rId5"/>
              </a:rPr>
              <a:t>https://bizzdesign.com/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 err="1"/>
              <a:t>BizzDesign</a:t>
            </a:r>
            <a:r>
              <a:rPr lang="en-US" sz="1400" dirty="0"/>
              <a:t> Enterprise Studio is a comprehensive tool for enterprise architecture that supports </a:t>
            </a:r>
            <a:r>
              <a:rPr lang="en-US" sz="1400" dirty="0" err="1"/>
              <a:t>Archimate</a:t>
            </a:r>
            <a:r>
              <a:rPr lang="en-US" sz="1400" dirty="0"/>
              <a:t> modeling. It offers AI-enhanced features for automated modeling, analysis, and optimization.</a:t>
            </a:r>
          </a:p>
          <a:p>
            <a:r>
              <a:rPr lang="en-US" sz="1400" b="1" dirty="0"/>
              <a:t>Key Features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Automated generation of </a:t>
            </a:r>
            <a:r>
              <a:rPr lang="en-US" sz="1400" dirty="0" err="1"/>
              <a:t>Archimate</a:t>
            </a:r>
            <a:r>
              <a:rPr lang="en-US" sz="1400" dirty="0"/>
              <a:t> models from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Pattern recognition and best practice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Real-time collaboration and review.</a:t>
            </a:r>
            <a:endParaRPr lang="en-IN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D6B75-1A49-FD69-3075-EDDE5A6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5"/>
            <a:ext cx="12192000" cy="662164"/>
          </a:xfrm>
        </p:spPr>
        <p:txBody>
          <a:bodyPr>
            <a:normAutofit/>
          </a:bodyPr>
          <a:lstStyle/>
          <a:p>
            <a:r>
              <a:rPr lang="en-US" sz="3200" dirty="0"/>
              <a:t>Architecture Design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68BA8-848A-6D21-EECE-BA86D91E96C2}"/>
              </a:ext>
            </a:extLst>
          </p:cNvPr>
          <p:cNvSpPr txBox="1"/>
          <p:nvPr/>
        </p:nvSpPr>
        <p:spPr>
          <a:xfrm>
            <a:off x="533708" y="869244"/>
            <a:ext cx="10597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 can help in designing software architecture by analyzing requirements and suggesting optimal structures. Tools like </a:t>
            </a:r>
            <a:r>
              <a:rPr lang="en-US" sz="1600" dirty="0">
                <a:hlinkClick r:id="rId6"/>
              </a:rPr>
              <a:t>ArchiMate</a:t>
            </a:r>
            <a:r>
              <a:rPr lang="en-US" sz="1600" dirty="0"/>
              <a:t> can be enhanced with AI to recommend architecture patterns and best practices.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16517-8329-9509-C642-496F07EF3146}"/>
              </a:ext>
            </a:extLst>
          </p:cNvPr>
          <p:cNvSpPr txBox="1"/>
          <p:nvPr/>
        </p:nvSpPr>
        <p:spPr>
          <a:xfrm>
            <a:off x="10416821" y="6384926"/>
            <a:ext cx="13352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IBM Watson</a:t>
            </a:r>
            <a:endParaRPr lang="en-IN" sz="1200" i="1" dirty="0"/>
          </a:p>
        </p:txBody>
      </p:sp>
    </p:spTree>
    <p:extLst>
      <p:ext uri="{BB962C8B-B14F-4D97-AF65-F5344CB8AC3E}">
        <p14:creationId xmlns:p14="http://schemas.microsoft.com/office/powerpoint/2010/main" val="350176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6B75-1A49-FD69-3075-EDDE5A6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5"/>
            <a:ext cx="12192000" cy="662164"/>
          </a:xfrm>
        </p:spPr>
        <p:txBody>
          <a:bodyPr>
            <a:normAutofit/>
          </a:bodyPr>
          <a:lstStyle/>
          <a:p>
            <a:r>
              <a:rPr lang="en-US" sz="3200" dirty="0"/>
              <a:t>User Interface Design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F0C52-D1AA-A329-33B2-481E0B4014F6}"/>
              </a:ext>
            </a:extLst>
          </p:cNvPr>
          <p:cNvSpPr txBox="1"/>
          <p:nvPr/>
        </p:nvSpPr>
        <p:spPr>
          <a:xfrm>
            <a:off x="451556" y="857956"/>
            <a:ext cx="1095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 can assist in creating user interfaces by suggesting design elements and layouts that enhance user experience.</a:t>
            </a:r>
            <a:endParaRPr lang="en-IN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D06683-3E0B-6ADB-A440-BBF0F31311DC}"/>
              </a:ext>
            </a:extLst>
          </p:cNvPr>
          <p:cNvSpPr/>
          <p:nvPr/>
        </p:nvSpPr>
        <p:spPr>
          <a:xfrm>
            <a:off x="533863" y="1728092"/>
            <a:ext cx="5544000" cy="2160000"/>
          </a:xfrm>
          <a:prstGeom prst="roundRect">
            <a:avLst>
              <a:gd name="adj" fmla="val 434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/>
              <a:t>Uizard</a:t>
            </a:r>
            <a:r>
              <a:rPr lang="en-US" sz="1400" b="1" dirty="0"/>
              <a:t> </a:t>
            </a:r>
            <a:r>
              <a:rPr lang="en-US" sz="1400" dirty="0"/>
              <a:t>(</a:t>
            </a:r>
            <a:r>
              <a:rPr lang="en-US" sz="1200" dirty="0"/>
              <a:t>https://uizard.io/ 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Key Features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BA61D9-C530-499F-2653-07F344496968}"/>
              </a:ext>
            </a:extLst>
          </p:cNvPr>
          <p:cNvSpPr/>
          <p:nvPr/>
        </p:nvSpPr>
        <p:spPr>
          <a:xfrm>
            <a:off x="6253345" y="1728092"/>
            <a:ext cx="5544000" cy="2160000"/>
          </a:xfrm>
          <a:prstGeom prst="roundRect">
            <a:avLst>
              <a:gd name="adj" fmla="val 434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Sketch2Code</a:t>
            </a:r>
            <a:r>
              <a:rPr lang="en-US" sz="1400" b="1" dirty="0"/>
              <a:t> </a:t>
            </a:r>
            <a:r>
              <a:rPr lang="en-US" sz="1400" dirty="0"/>
              <a:t>(</a:t>
            </a:r>
            <a:r>
              <a:rPr lang="en-US" sz="1200" dirty="0"/>
              <a:t>https://learn.microsoft.com/en-us/shows/ai-show/sketch2code 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Key Features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927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6B75-1A49-FD69-3075-EDDE5A6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5"/>
            <a:ext cx="12192000" cy="662164"/>
          </a:xfrm>
        </p:spPr>
        <p:txBody>
          <a:bodyPr>
            <a:normAutofit/>
          </a:bodyPr>
          <a:lstStyle/>
          <a:p>
            <a:r>
              <a:rPr lang="en-US" sz="3200" dirty="0"/>
              <a:t>Code Generation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66453-F32C-7624-B8F8-D8BB79594208}"/>
              </a:ext>
            </a:extLst>
          </p:cNvPr>
          <p:cNvSpPr txBox="1"/>
          <p:nvPr/>
        </p:nvSpPr>
        <p:spPr>
          <a:xfrm>
            <a:off x="496711" y="5163670"/>
            <a:ext cx="2984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Optimization and Refactoring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80E0-92D8-CDAB-25A4-B156502E100A}"/>
              </a:ext>
            </a:extLst>
          </p:cNvPr>
          <p:cNvSpPr txBox="1"/>
          <p:nvPr/>
        </p:nvSpPr>
        <p:spPr>
          <a:xfrm>
            <a:off x="496711" y="914400"/>
            <a:ext cx="10848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 tools can assist in writing code by predicting and suggesting code snippets based on the context.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A10AC-79D4-A87F-A985-75AAC1604B33}"/>
              </a:ext>
            </a:extLst>
          </p:cNvPr>
          <p:cNvSpPr txBox="1"/>
          <p:nvPr/>
        </p:nvSpPr>
        <p:spPr>
          <a:xfrm>
            <a:off x="496711" y="5533002"/>
            <a:ext cx="10649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 can identify parts of the code that can be optimized or need refactoring. This helps in maintaining and improving the performance of the software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2918C-F34E-9E4C-74DF-EE92DA384990}"/>
              </a:ext>
            </a:extLst>
          </p:cNvPr>
          <p:cNvSpPr txBox="1"/>
          <p:nvPr/>
        </p:nvSpPr>
        <p:spPr>
          <a:xfrm>
            <a:off x="712694" y="1775012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Ollama</a:t>
            </a:r>
            <a:r>
              <a:rPr lang="en-US" dirty="0"/>
              <a:t>  - </a:t>
            </a:r>
            <a:r>
              <a:rPr lang="en-US" dirty="0">
                <a:hlinkClick r:id="rId2"/>
              </a:rPr>
              <a:t>https://ollama.com/</a:t>
            </a:r>
            <a:r>
              <a:rPr lang="en-US" dirty="0"/>
              <a:t> + </a:t>
            </a:r>
            <a:r>
              <a:rPr lang="en-US" dirty="0" err="1"/>
              <a:t>Codeqwen</a:t>
            </a:r>
            <a:r>
              <a:rPr lang="en-US" dirty="0"/>
              <a:t> + Continue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72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6B75-1A49-FD69-3075-EDDE5A6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5"/>
            <a:ext cx="12192000" cy="662164"/>
          </a:xfrm>
        </p:spPr>
        <p:txBody>
          <a:bodyPr>
            <a:normAutofit/>
          </a:bodyPr>
          <a:lstStyle/>
          <a:p>
            <a:r>
              <a:rPr lang="en-US" sz="3200" dirty="0"/>
              <a:t>Code Review and Quality Assurance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73B06-77F6-733D-B1E2-68731FC6D1F5}"/>
              </a:ext>
            </a:extLst>
          </p:cNvPr>
          <p:cNvSpPr txBox="1"/>
          <p:nvPr/>
        </p:nvSpPr>
        <p:spPr>
          <a:xfrm>
            <a:off x="304800" y="1061156"/>
            <a:ext cx="112120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AI-powered tools can automatically review code for potential bugs, security vulnerabilities, and adherence to coding standards. 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Examples include </a:t>
            </a:r>
            <a:r>
              <a:rPr lang="en-US" sz="1600" dirty="0" err="1"/>
              <a:t>DeepCode</a:t>
            </a:r>
            <a:r>
              <a:rPr lang="en-US" sz="1600" dirty="0"/>
              <a:t> and SonarQube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8016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6B75-1A49-FD69-3075-EDDE5A6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5"/>
            <a:ext cx="12192000" cy="662164"/>
          </a:xfrm>
        </p:spPr>
        <p:txBody>
          <a:bodyPr>
            <a:normAutofit/>
          </a:bodyPr>
          <a:lstStyle/>
          <a:p>
            <a:r>
              <a:rPr lang="en-US" sz="3200" dirty="0"/>
              <a:t>Testing Automation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0188F-563F-8346-6CB4-AD50009CEECD}"/>
              </a:ext>
            </a:extLst>
          </p:cNvPr>
          <p:cNvSpPr txBox="1"/>
          <p:nvPr/>
        </p:nvSpPr>
        <p:spPr>
          <a:xfrm>
            <a:off x="485421" y="1004711"/>
            <a:ext cx="10724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 can generate test cases, identify test coverage gaps, and even perform automated testing. 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7BC3E-A04B-EFFC-289E-234AE2F74723}"/>
              </a:ext>
            </a:extLst>
          </p:cNvPr>
          <p:cNvSpPr txBox="1"/>
          <p:nvPr/>
        </p:nvSpPr>
        <p:spPr>
          <a:xfrm>
            <a:off x="485421" y="1963271"/>
            <a:ext cx="777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Test.ai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83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6B75-1A49-FD69-3075-EDDE5A62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05"/>
            <a:ext cx="12192000" cy="662164"/>
          </a:xfrm>
        </p:spPr>
        <p:txBody>
          <a:bodyPr>
            <a:normAutofit/>
          </a:bodyPr>
          <a:lstStyle/>
          <a:p>
            <a:r>
              <a:rPr lang="en-US" sz="3200" dirty="0"/>
              <a:t>Code Generation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71395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166</TotalTime>
  <Words>492</Words>
  <Application>Microsoft Office PowerPoint</Application>
  <PresentationFormat>Widescreen</PresentationFormat>
  <Paragraphs>60</Paragraphs>
  <Slides>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AI in Software development</vt:lpstr>
      <vt:lpstr>Requirement Analysis</vt:lpstr>
      <vt:lpstr>Architecture Design</vt:lpstr>
      <vt:lpstr>User Interface Design</vt:lpstr>
      <vt:lpstr>Code Generation</vt:lpstr>
      <vt:lpstr>Code Review and Quality Assurance</vt:lpstr>
      <vt:lpstr>Testing Automation</vt:lpstr>
      <vt:lpstr>Code Generation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Harikumar Gokulam</dc:creator>
  <cp:lastModifiedBy>Harikumar Gokulam</cp:lastModifiedBy>
  <cp:revision>4</cp:revision>
  <dcterms:created xsi:type="dcterms:W3CDTF">2024-07-04T08:17:22Z</dcterms:created>
  <dcterms:modified xsi:type="dcterms:W3CDTF">2024-07-04T11:04:08Z</dcterms:modified>
</cp:coreProperties>
</file>